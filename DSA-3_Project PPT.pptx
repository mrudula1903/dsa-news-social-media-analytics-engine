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9/10/2026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9/10/2026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9/10/2026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128787"/>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                                                                             Data Structures and Algorithms -3 (25CS2103E)</a:t>
            </a:r>
            <a:br>
              <a:rPr lang="en-US" sz="4000" b="1" dirty="0">
                <a:solidFill>
                  <a:srgbClr val="C00000"/>
                </a:solidFill>
                <a:latin typeface="+mn-lt"/>
              </a:rPr>
            </a:br>
            <a:br>
              <a:rPr lang="en-US" sz="4000" b="1" dirty="0">
                <a:solidFill>
                  <a:srgbClr val="C00000"/>
                </a:solidFill>
                <a:latin typeface="+mn-lt"/>
              </a:rPr>
            </a:br>
            <a:r>
              <a:rPr lang="en-IN" sz="3200" dirty="0">
                <a:solidFill>
                  <a:srgbClr val="FF0000"/>
                </a:solidFill>
                <a:latin typeface="Algerian" panose="04020705040A02060702" pitchFamily="82" charset="0"/>
              </a:rPr>
              <a:t>News &amp; Social Media Analytics Engine</a:t>
            </a:r>
            <a:br>
              <a:rPr lang="en-IN" dirty="0">
                <a:solidFill>
                  <a:srgbClr val="FF0000"/>
                </a:solidFill>
              </a:rPr>
            </a:br>
            <a:br>
              <a:rPr lang="en-IN" dirty="0">
                <a:solidFill>
                  <a:srgbClr val="FF0000"/>
                </a:solidFill>
              </a:rPr>
            </a:br>
            <a:r>
              <a:rPr lang="en-US" sz="1600" dirty="0">
                <a:latin typeface="Arial Rounded MT Bold" panose="020F0704030504030204" pitchFamily="34" charset="0"/>
              </a:rPr>
              <a:t>Submitted by</a:t>
            </a:r>
            <a:br>
              <a:rPr lang="en-US" sz="1600" dirty="0">
                <a:latin typeface="Arial Rounded MT Bold" panose="020F0704030504030204" pitchFamily="34" charset="0"/>
              </a:rPr>
            </a:br>
            <a:br>
              <a:rPr lang="en-IN" sz="1600" dirty="0">
                <a:latin typeface="Arial Rounded MT Bold" panose="020F0704030504030204" pitchFamily="34" charset="0"/>
              </a:rPr>
            </a:br>
            <a:r>
              <a:rPr lang="en-IN" sz="1600" dirty="0" err="1">
                <a:latin typeface="Arial Rounded MT Bold" panose="020F0704030504030204" pitchFamily="34" charset="0"/>
              </a:rPr>
              <a:t>K.Mrudula</a:t>
            </a:r>
            <a:r>
              <a:rPr lang="en-IN" sz="1600" dirty="0">
                <a:latin typeface="Arial Rounded MT Bold" panose="020F0704030504030204" pitchFamily="34" charset="0"/>
              </a:rPr>
              <a:t> (2520090073)</a:t>
            </a:r>
            <a:br>
              <a:rPr lang="en-IN" sz="1600" dirty="0">
                <a:latin typeface="Arial Rounded MT Bold" panose="020F0704030504030204" pitchFamily="34" charset="0"/>
              </a:rPr>
            </a:br>
            <a:br>
              <a:rPr lang="en-IN" sz="1600" dirty="0">
                <a:latin typeface="Arial Rounded MT Bold" panose="020F0704030504030204" pitchFamily="34" charset="0"/>
              </a:rPr>
            </a:br>
            <a:r>
              <a:rPr lang="en-IN" sz="1600" dirty="0" err="1">
                <a:latin typeface="Arial Rounded MT Bold" panose="020F0704030504030204" pitchFamily="34" charset="0"/>
              </a:rPr>
              <a:t>B.Navya</a:t>
            </a:r>
            <a:r>
              <a:rPr lang="en-IN" sz="1600" dirty="0">
                <a:latin typeface="Arial Rounded MT Bold" panose="020F0704030504030204" pitchFamily="34" charset="0"/>
              </a:rPr>
              <a:t> (2520090189)</a:t>
            </a:r>
            <a:br>
              <a:rPr lang="en-IN" sz="1600" dirty="0">
                <a:latin typeface="Arial Rounded MT Bold" panose="020F0704030504030204" pitchFamily="34" charset="0"/>
              </a:rPr>
            </a:br>
            <a:endParaRPr lang="en-US" sz="1600" b="1" dirty="0">
              <a:solidFill>
                <a:srgbClr val="FF0000"/>
              </a:solidFill>
              <a:latin typeface="Arial Rounded MT Bold" panose="020F0704030504030204" pitchFamily="34" charset="0"/>
            </a:endParaRPr>
          </a:p>
        </p:txBody>
      </p:sp>
      <p:sp>
        <p:nvSpPr>
          <p:cNvPr id="3" name="Subtitle 2"/>
          <p:cNvSpPr>
            <a:spLocks noGrp="1"/>
          </p:cNvSpPr>
          <p:nvPr>
            <p:ph type="subTitle" idx="1"/>
          </p:nvPr>
        </p:nvSpPr>
        <p:spPr>
          <a:xfrm>
            <a:off x="3820358" y="3897701"/>
            <a:ext cx="4551284" cy="1396014"/>
          </a:xfrm>
        </p:spPr>
        <p:txBody>
          <a:bodyPr/>
          <a:lstStyle/>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Arial Rounded MT Bold" panose="020F0704030504030204" pitchFamily="34" charset="0"/>
                <a:ea typeface="Times New Roman" panose="02020603050405020304" pitchFamily="18" charset="0"/>
                <a:cs typeface="Gautami" panose="020B0502040204020203" pitchFamily="34" charset="0"/>
              </a:rPr>
              <a:t>Under the Esteemed Guidance of</a:t>
            </a:r>
            <a:endParaRPr lang="en-IN" sz="1800" kern="100" dirty="0">
              <a:effectLst/>
              <a:latin typeface="Arial Rounded MT Bold" panose="020F0704030504030204" pitchFamily="34" charset="0"/>
              <a:ea typeface="Calibri" panose="020F0502020204030204" pitchFamily="34" charset="0"/>
              <a:cs typeface="Gautami" panose="020B0502040204020203" pitchFamily="34" charset="0"/>
            </a:endParaRPr>
          </a:p>
          <a:p>
            <a:r>
              <a:rPr lang="en-US" sz="1800" dirty="0">
                <a:latin typeface="Arial Rounded MT Bold" panose="020F0704030504030204" pitchFamily="34" charset="0"/>
              </a:rPr>
              <a:t>Mrs. Ch. Anitha</a:t>
            </a:r>
            <a:endParaRPr lang="en-IN" sz="1800" dirty="0">
              <a:latin typeface="Arial Rounded MT Bold" panose="020F0704030504030204" pitchFamily="34" charset="0"/>
            </a:endParaRPr>
          </a:p>
          <a:p>
            <a:r>
              <a:rPr lang="en-US" sz="1800" dirty="0">
                <a:latin typeface="Arial Rounded MT Bold" panose="020F0704030504030204" pitchFamily="34" charset="0"/>
              </a:rPr>
              <a:t>Asst. Professor, CS&amp;IT</a:t>
            </a:r>
            <a:endParaRPr lang="en-IN" sz="1800" dirty="0">
              <a:latin typeface="Arial Rounded MT Bold" panose="020F0704030504030204"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E92BB7B6-F522-92D4-E101-4BA0D9309A84}"/>
              </a:ext>
            </a:extLst>
          </p:cNvPr>
          <p:cNvSpPr txBox="1"/>
          <p:nvPr/>
        </p:nvSpPr>
        <p:spPr>
          <a:xfrm>
            <a:off x="356506" y="1975286"/>
            <a:ext cx="11478985" cy="3477875"/>
          </a:xfrm>
          <a:prstGeom prst="rect">
            <a:avLst/>
          </a:prstGeom>
          <a:noFill/>
        </p:spPr>
        <p:txBody>
          <a:bodyPr wrap="square">
            <a:spAutoFit/>
          </a:bodyPr>
          <a:lstStyle/>
          <a:p>
            <a:pPr algn="just">
              <a:buNone/>
            </a:pPr>
            <a:r>
              <a:rPr lang="en-US" sz="2000" dirty="0">
                <a:effectLst/>
                <a:latin typeface="Arial" panose="020B0604020202020204" pitchFamily="34" charset="0"/>
                <a:ea typeface="SimSun" panose="02010600030101010101" pitchFamily="2" charset="-122"/>
                <a:cs typeface="Arial" panose="020B0604020202020204" pitchFamily="34" charset="0"/>
              </a:rPr>
              <a:t>The News &amp; Social Media Analytics Engine is a powerful system developed to collect, process, and analyze large volumes of data from news websites and social media platforms in real time. With the rapid increase of online content, it has become difficult to manually track trends and public opinions. This project aims to overcome this challenge by using techniques such as data mining and natural language processing. </a:t>
            </a:r>
            <a:endParaRPr lang="en-IN" sz="2000" dirty="0">
              <a:effectLst/>
              <a:latin typeface="Arial" panose="020B0604020202020204" pitchFamily="34" charset="0"/>
              <a:ea typeface="SimSun" panose="02010600030101010101" pitchFamily="2" charset="-122"/>
              <a:cs typeface="Arial" panose="020B0604020202020204" pitchFamily="34" charset="0"/>
            </a:endParaRPr>
          </a:p>
          <a:p>
            <a:pPr algn="just">
              <a:buNone/>
            </a:pPr>
            <a:r>
              <a:rPr lang="en-US" sz="2000" dirty="0">
                <a:effectLst/>
                <a:latin typeface="Arial" panose="020B0604020202020204" pitchFamily="34" charset="0"/>
                <a:ea typeface="SimSun" panose="02010600030101010101" pitchFamily="2" charset="-122"/>
                <a:cs typeface="Arial" panose="020B0604020202020204" pitchFamily="34" charset="0"/>
              </a:rPr>
              <a:t>The system gathers data from various sources, performs preprocessing steps like cleaning and filtering, and analyzes the information to extract meaningful insights. It includes sentiment analysis to classify opinions as positive, negative, or neutral, and identifies trending topics using keyword extraction methods. The results are presented through simple visualizations such as graphs and charts, making the data easy to understand. This system helps users make informed decisions based on current trends and public sentiment</a:t>
            </a:r>
            <a:r>
              <a:rPr lang="en-US" sz="2000" dirty="0">
                <a:effectLst/>
                <a:latin typeface="Arial Rounded MT Bold" panose="020F0704030504030204" pitchFamily="34" charset="0"/>
                <a:ea typeface="SimSun" panose="02010600030101010101" pitchFamily="2" charset="-122"/>
              </a:rPr>
              <a:t>.</a:t>
            </a:r>
            <a:endParaRPr lang="en-IN" sz="2000" dirty="0">
              <a:effectLst/>
              <a:latin typeface="Arial Rounded MT Bold" panose="020F0704030504030204" pitchFamily="34" charset="0"/>
              <a:ea typeface="SimSun" panose="02010600030101010101" pitchFamily="2" charset="-122"/>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7" name="TextBox 6">
            <a:extLst>
              <a:ext uri="{FF2B5EF4-FFF2-40B4-BE49-F238E27FC236}">
                <a16:creationId xmlns:a16="http://schemas.microsoft.com/office/drawing/2014/main" id="{B12B9212-C248-CF43-7393-B17275C1E8A3}"/>
              </a:ext>
            </a:extLst>
          </p:cNvPr>
          <p:cNvSpPr txBox="1"/>
          <p:nvPr/>
        </p:nvSpPr>
        <p:spPr>
          <a:xfrm>
            <a:off x="184280" y="2554756"/>
            <a:ext cx="11712251" cy="2308324"/>
          </a:xfrm>
          <a:prstGeom prst="rect">
            <a:avLst/>
          </a:prstGeom>
          <a:noFill/>
        </p:spPr>
        <p:txBody>
          <a:bodyPr wrap="square">
            <a:spAutoFit/>
          </a:bodyPr>
          <a:lstStyle/>
          <a:p>
            <a:pPr algn="just"/>
            <a:r>
              <a:rPr lang="en-IN" sz="2400" dirty="0">
                <a:latin typeface="Arial" panose="020B0604020202020204" pitchFamily="34" charset="0"/>
                <a:cs typeface="Arial" panose="020B0604020202020204" pitchFamily="34" charset="0"/>
              </a:rPr>
              <a:t>In today’s digital world, a huge amount of information is generated through news websites and social media platforms every day. </a:t>
            </a:r>
            <a:r>
              <a:rPr lang="en-IN" sz="2400" dirty="0" err="1">
                <a:latin typeface="Arial" panose="020B0604020202020204" pitchFamily="34" charset="0"/>
                <a:cs typeface="Arial" panose="020B0604020202020204" pitchFamily="34" charset="0"/>
              </a:rPr>
              <a:t>Analyzing</a:t>
            </a:r>
            <a:r>
              <a:rPr lang="en-IN" sz="2400" dirty="0">
                <a:latin typeface="Arial" panose="020B0604020202020204" pitchFamily="34" charset="0"/>
                <a:cs typeface="Arial" panose="020B0604020202020204" pitchFamily="34" charset="0"/>
              </a:rPr>
              <a:t> this information manually requires a lot of time and effort. The News &amp; Social Media Analytics Engine provides an automated approach to collect and </a:t>
            </a:r>
            <a:r>
              <a:rPr lang="en-IN" sz="2400" dirty="0" err="1">
                <a:latin typeface="Arial" panose="020B0604020202020204" pitchFamily="34" charset="0"/>
                <a:cs typeface="Arial" panose="020B0604020202020204" pitchFamily="34" charset="0"/>
              </a:rPr>
              <a:t>analyze</a:t>
            </a:r>
            <a:r>
              <a:rPr lang="en-IN" sz="2400" dirty="0">
                <a:latin typeface="Arial" panose="020B0604020202020204" pitchFamily="34" charset="0"/>
                <a:cs typeface="Arial" panose="020B0604020202020204" pitchFamily="34" charset="0"/>
              </a:rPr>
              <a:t> online content. It uses data mining and NLP techniques to understand the collected text, identify public sentiment, extract important keywords, and find trending topics.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5" name="TextBox 4">
            <a:extLst>
              <a:ext uri="{FF2B5EF4-FFF2-40B4-BE49-F238E27FC236}">
                <a16:creationId xmlns:a16="http://schemas.microsoft.com/office/drawing/2014/main" id="{F8868E8B-B1AD-5ADF-4F38-E7FFE1871132}"/>
              </a:ext>
            </a:extLst>
          </p:cNvPr>
          <p:cNvSpPr txBox="1"/>
          <p:nvPr/>
        </p:nvSpPr>
        <p:spPr>
          <a:xfrm>
            <a:off x="846753" y="2087081"/>
            <a:ext cx="10685883" cy="2677656"/>
          </a:xfrm>
          <a:prstGeom prst="rect">
            <a:avLst/>
          </a:prstGeom>
          <a:noFill/>
        </p:spPr>
        <p:txBody>
          <a:bodyPr wrap="square">
            <a:spAutoFit/>
          </a:bodyPr>
          <a:lstStyle/>
          <a:p>
            <a:pPr algn="just"/>
            <a:r>
              <a:rPr lang="en-IN" sz="2400" dirty="0">
                <a:latin typeface="Arial" panose="020B0604020202020204" pitchFamily="34" charset="0"/>
                <a:cs typeface="Arial" panose="020B0604020202020204" pitchFamily="34" charset="0"/>
              </a:rPr>
              <a:t>Existing systems and research approaches have focused on collecting online data, preprocessing textual information, and </a:t>
            </a:r>
            <a:r>
              <a:rPr lang="en-IN" sz="2400" dirty="0" err="1">
                <a:latin typeface="Arial" panose="020B0604020202020204" pitchFamily="34" charset="0"/>
                <a:cs typeface="Arial" panose="020B0604020202020204" pitchFamily="34" charset="0"/>
              </a:rPr>
              <a:t>analyzing</a:t>
            </a:r>
            <a:r>
              <a:rPr lang="en-IN" sz="2400" dirty="0">
                <a:latin typeface="Arial" panose="020B0604020202020204" pitchFamily="34" charset="0"/>
                <a:cs typeface="Arial" panose="020B0604020202020204" pitchFamily="34" charset="0"/>
              </a:rPr>
              <a:t> public opinions. Natural Language Processing is commonly used to process human-language content, while sentiment analysis helps classify opinions into different categories. Keyword extraction techniques can also be used to identify important topics from large collections of text. Our project combines these approaches to provide an easy-to-understand analytics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A4CFC0EF-A25E-9CE1-9924-65E51D10A1F0}"/>
              </a:ext>
            </a:extLst>
          </p:cNvPr>
          <p:cNvSpPr txBox="1"/>
          <p:nvPr/>
        </p:nvSpPr>
        <p:spPr>
          <a:xfrm>
            <a:off x="353537" y="2442789"/>
            <a:ext cx="11336694" cy="2308324"/>
          </a:xfrm>
          <a:prstGeom prst="rect">
            <a:avLst/>
          </a:prstGeom>
          <a:noFill/>
        </p:spPr>
        <p:txBody>
          <a:bodyPr wrap="square">
            <a:spAutoFit/>
          </a:bodyPr>
          <a:lstStyle/>
          <a:p>
            <a:pPr algn="just"/>
            <a:r>
              <a:rPr lang="en-IN" sz="2400" dirty="0">
                <a:latin typeface="Arial" panose="020B0604020202020204" pitchFamily="34" charset="0"/>
                <a:cs typeface="Arial" panose="020B0604020202020204" pitchFamily="34" charset="0"/>
              </a:rPr>
              <a:t>The rapid growth of news and social media content makes it difficult for users to manually monitor and </a:t>
            </a:r>
            <a:r>
              <a:rPr lang="en-IN" sz="2400" dirty="0" err="1">
                <a:latin typeface="Arial" panose="020B0604020202020204" pitchFamily="34" charset="0"/>
                <a:cs typeface="Arial" panose="020B0604020202020204" pitchFamily="34" charset="0"/>
              </a:rPr>
              <a:t>analyze</a:t>
            </a:r>
            <a:r>
              <a:rPr lang="en-IN" sz="2400" dirty="0">
                <a:latin typeface="Arial" panose="020B0604020202020204" pitchFamily="34" charset="0"/>
                <a:cs typeface="Arial" panose="020B0604020202020204" pitchFamily="34" charset="0"/>
              </a:rPr>
              <a:t> all available information. The main objective of our project is to automatically collect online data, preprocess and clean the information, </a:t>
            </a:r>
            <a:r>
              <a:rPr lang="en-IN" sz="2400" dirty="0" err="1">
                <a:latin typeface="Arial" panose="020B0604020202020204" pitchFamily="34" charset="0"/>
                <a:cs typeface="Arial" panose="020B0604020202020204" pitchFamily="34" charset="0"/>
              </a:rPr>
              <a:t>analyze</a:t>
            </a:r>
            <a:r>
              <a:rPr lang="en-IN" sz="2400" dirty="0">
                <a:latin typeface="Arial" panose="020B0604020202020204" pitchFamily="34" charset="0"/>
                <a:cs typeface="Arial" panose="020B0604020202020204" pitchFamily="34" charset="0"/>
              </a:rPr>
              <a:t> the text using NLP techniques, classify sentiment as positive, negative, or neutral, identify important keywords and trending topics, and present the results through simple visualizations.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7" name="Picture 6">
            <a:extLst>
              <a:ext uri="{FF2B5EF4-FFF2-40B4-BE49-F238E27FC236}">
                <a16:creationId xmlns:a16="http://schemas.microsoft.com/office/drawing/2014/main" id="{BF9C4EBA-B8EE-FB3E-B7EF-3B495107DA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0482" y="970668"/>
            <a:ext cx="6167533" cy="56656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TextBox 4">
            <a:extLst>
              <a:ext uri="{FF2B5EF4-FFF2-40B4-BE49-F238E27FC236}">
                <a16:creationId xmlns:a16="http://schemas.microsoft.com/office/drawing/2014/main" id="{E9E26D9C-108B-17D1-10E2-7ECB10FD7F82}"/>
              </a:ext>
            </a:extLst>
          </p:cNvPr>
          <p:cNvSpPr txBox="1"/>
          <p:nvPr/>
        </p:nvSpPr>
        <p:spPr>
          <a:xfrm>
            <a:off x="429207" y="2413338"/>
            <a:ext cx="11411339" cy="1938992"/>
          </a:xfrm>
          <a:prstGeom prst="rect">
            <a:avLst/>
          </a:prstGeom>
          <a:noFill/>
        </p:spPr>
        <p:txBody>
          <a:bodyPr wrap="square">
            <a:spAutoFit/>
          </a:bodyPr>
          <a:lstStyle/>
          <a:p>
            <a:pPr algn="just"/>
            <a:r>
              <a:rPr lang="en-IN" sz="2400" dirty="0">
                <a:latin typeface="Arial" panose="020B0604020202020204" pitchFamily="34" charset="0"/>
                <a:cs typeface="Arial" panose="020B0604020202020204" pitchFamily="34" charset="0"/>
              </a:rPr>
              <a:t>The system successfully processes the collected online content and extracts meaningful information. It classifies the sentiment of the content into positive, negative, and neutral categories. It also extracts important keywords and identifies trending topics from the </a:t>
            </a:r>
            <a:r>
              <a:rPr lang="en-IN" sz="2400" dirty="0" err="1">
                <a:latin typeface="Arial" panose="020B0604020202020204" pitchFamily="34" charset="0"/>
                <a:cs typeface="Arial" panose="020B0604020202020204" pitchFamily="34" charset="0"/>
              </a:rPr>
              <a:t>analyzed</a:t>
            </a:r>
            <a:r>
              <a:rPr lang="en-IN" sz="2400" dirty="0">
                <a:latin typeface="Arial" panose="020B0604020202020204" pitchFamily="34" charset="0"/>
                <a:cs typeface="Arial" panose="020B0604020202020204" pitchFamily="34" charset="0"/>
              </a:rPr>
              <a:t> data. The final results are represented using graphs and charts, which makes the information easier to understand and interpret. </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428416"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graphicFrame>
        <p:nvGraphicFramePr>
          <p:cNvPr id="4" name="Table 3">
            <a:extLst>
              <a:ext uri="{FF2B5EF4-FFF2-40B4-BE49-F238E27FC236}">
                <a16:creationId xmlns:a16="http://schemas.microsoft.com/office/drawing/2014/main" id="{513C537C-D912-115D-7EA8-53287ECE83C5}"/>
              </a:ext>
            </a:extLst>
          </p:cNvPr>
          <p:cNvGraphicFramePr>
            <a:graphicFrameLocks noGrp="1"/>
          </p:cNvGraphicFramePr>
          <p:nvPr>
            <p:extLst>
              <p:ext uri="{D42A27DB-BD31-4B8C-83A1-F6EECF244321}">
                <p14:modId xmlns:p14="http://schemas.microsoft.com/office/powerpoint/2010/main" val="3492610324"/>
              </p:ext>
            </p:extLst>
          </p:nvPr>
        </p:nvGraphicFramePr>
        <p:xfrm>
          <a:off x="667138" y="1456949"/>
          <a:ext cx="10515600" cy="2400161"/>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37865834"/>
                    </a:ext>
                  </a:extLst>
                </a:gridCol>
                <a:gridCol w="5257800">
                  <a:extLst>
                    <a:ext uri="{9D8B030D-6E8A-4147-A177-3AD203B41FA5}">
                      <a16:colId xmlns:a16="http://schemas.microsoft.com/office/drawing/2014/main" val="2731360825"/>
                    </a:ext>
                  </a:extLst>
                </a:gridCol>
              </a:tblGrid>
              <a:tr h="571361">
                <a:tc>
                  <a:txBody>
                    <a:bodyPr/>
                    <a:lstStyle/>
                    <a:p>
                      <a:pPr>
                        <a:buNone/>
                      </a:pPr>
                      <a:r>
                        <a:rPr lang="en-IN"/>
                        <a:t>Hardware Component</a:t>
                      </a:r>
                      <a:endParaRPr lang="en-IN" dirty="0"/>
                    </a:p>
                  </a:txBody>
                  <a:tcPr anchor="ctr"/>
                </a:tc>
                <a:tc>
                  <a:txBody>
                    <a:bodyPr/>
                    <a:lstStyle/>
                    <a:p>
                      <a:pPr>
                        <a:buNone/>
                      </a:pPr>
                      <a:r>
                        <a:rPr lang="en-IN"/>
                        <a:t>Requirement</a:t>
                      </a:r>
                    </a:p>
                  </a:txBody>
                  <a:tcPr anchor="ctr"/>
                </a:tc>
                <a:extLst>
                  <a:ext uri="{0D108BD9-81ED-4DB2-BD59-A6C34878D82A}">
                    <a16:rowId xmlns:a16="http://schemas.microsoft.com/office/drawing/2014/main" val="2137980188"/>
                  </a:ext>
                </a:extLst>
              </a:tr>
              <a:tr h="0">
                <a:tc>
                  <a:txBody>
                    <a:bodyPr/>
                    <a:lstStyle/>
                    <a:p>
                      <a:pPr>
                        <a:buNone/>
                      </a:pPr>
                      <a:r>
                        <a:rPr lang="en-IN"/>
                        <a:t>Computer / Laptop</a:t>
                      </a:r>
                    </a:p>
                  </a:txBody>
                  <a:tcPr anchor="ctr"/>
                </a:tc>
                <a:tc>
                  <a:txBody>
                    <a:bodyPr/>
                    <a:lstStyle/>
                    <a:p>
                      <a:pPr>
                        <a:buNone/>
                      </a:pPr>
                      <a:r>
                        <a:rPr lang="en-IN"/>
                        <a:t>Suitable system</a:t>
                      </a:r>
                    </a:p>
                  </a:txBody>
                  <a:tcPr anchor="ctr"/>
                </a:tc>
                <a:extLst>
                  <a:ext uri="{0D108BD9-81ED-4DB2-BD59-A6C34878D82A}">
                    <a16:rowId xmlns:a16="http://schemas.microsoft.com/office/drawing/2014/main" val="4135529795"/>
                  </a:ext>
                </a:extLst>
              </a:tr>
              <a:tr h="0">
                <a:tc>
                  <a:txBody>
                    <a:bodyPr/>
                    <a:lstStyle/>
                    <a:p>
                      <a:pPr>
                        <a:buNone/>
                      </a:pPr>
                      <a:r>
                        <a:rPr lang="en-IN"/>
                        <a:t>Processor</a:t>
                      </a:r>
                    </a:p>
                  </a:txBody>
                  <a:tcPr anchor="ctr"/>
                </a:tc>
                <a:tc>
                  <a:txBody>
                    <a:bodyPr/>
                    <a:lstStyle/>
                    <a:p>
                      <a:pPr>
                        <a:buNone/>
                      </a:pPr>
                      <a:r>
                        <a:rPr lang="en-IN"/>
                        <a:t>Suitable processor</a:t>
                      </a:r>
                    </a:p>
                  </a:txBody>
                  <a:tcPr anchor="ctr"/>
                </a:tc>
                <a:extLst>
                  <a:ext uri="{0D108BD9-81ED-4DB2-BD59-A6C34878D82A}">
                    <a16:rowId xmlns:a16="http://schemas.microsoft.com/office/drawing/2014/main" val="3109410553"/>
                  </a:ext>
                </a:extLst>
              </a:tr>
              <a:tr h="0">
                <a:tc>
                  <a:txBody>
                    <a:bodyPr/>
                    <a:lstStyle/>
                    <a:p>
                      <a:pPr>
                        <a:buNone/>
                      </a:pPr>
                      <a:r>
                        <a:rPr lang="en-IN"/>
                        <a:t>RAM</a:t>
                      </a:r>
                    </a:p>
                  </a:txBody>
                  <a:tcPr anchor="ctr"/>
                </a:tc>
                <a:tc>
                  <a:txBody>
                    <a:bodyPr/>
                    <a:lstStyle/>
                    <a:p>
                      <a:pPr>
                        <a:buNone/>
                      </a:pPr>
                      <a:r>
                        <a:rPr lang="en-IN"/>
                        <a:t>Sufficient RAM</a:t>
                      </a:r>
                    </a:p>
                  </a:txBody>
                  <a:tcPr anchor="ctr"/>
                </a:tc>
                <a:extLst>
                  <a:ext uri="{0D108BD9-81ED-4DB2-BD59-A6C34878D82A}">
                    <a16:rowId xmlns:a16="http://schemas.microsoft.com/office/drawing/2014/main" val="2111552131"/>
                  </a:ext>
                </a:extLst>
              </a:tr>
              <a:tr h="0">
                <a:tc>
                  <a:txBody>
                    <a:bodyPr/>
                    <a:lstStyle/>
                    <a:p>
                      <a:pPr>
                        <a:buNone/>
                      </a:pPr>
                      <a:r>
                        <a:rPr lang="en-IN"/>
                        <a:t>Storage</a:t>
                      </a:r>
                    </a:p>
                  </a:txBody>
                  <a:tcPr anchor="ctr"/>
                </a:tc>
                <a:tc>
                  <a:txBody>
                    <a:bodyPr/>
                    <a:lstStyle/>
                    <a:p>
                      <a:pPr>
                        <a:buNone/>
                      </a:pPr>
                      <a:r>
                        <a:rPr lang="en-IN"/>
                        <a:t>Sufficient storage</a:t>
                      </a:r>
                    </a:p>
                  </a:txBody>
                  <a:tcPr anchor="ctr"/>
                </a:tc>
                <a:extLst>
                  <a:ext uri="{0D108BD9-81ED-4DB2-BD59-A6C34878D82A}">
                    <a16:rowId xmlns:a16="http://schemas.microsoft.com/office/drawing/2014/main" val="1594081406"/>
                  </a:ext>
                </a:extLst>
              </a:tr>
              <a:tr h="0">
                <a:tc>
                  <a:txBody>
                    <a:bodyPr/>
                    <a:lstStyle/>
                    <a:p>
                      <a:pPr>
                        <a:buNone/>
                      </a:pPr>
                      <a:r>
                        <a:rPr lang="en-IN" dirty="0"/>
                        <a:t>Internet</a:t>
                      </a:r>
                    </a:p>
                  </a:txBody>
                  <a:tcPr anchor="ctr"/>
                </a:tc>
                <a:tc>
                  <a:txBody>
                    <a:bodyPr/>
                    <a:lstStyle/>
                    <a:p>
                      <a:pPr>
                        <a:buNone/>
                      </a:pPr>
                      <a:r>
                        <a:rPr lang="en-IN" dirty="0"/>
                        <a:t>Stable internet connection</a:t>
                      </a:r>
                    </a:p>
                  </a:txBody>
                  <a:tcPr anchor="ctr"/>
                </a:tc>
                <a:extLst>
                  <a:ext uri="{0D108BD9-81ED-4DB2-BD59-A6C34878D82A}">
                    <a16:rowId xmlns:a16="http://schemas.microsoft.com/office/drawing/2014/main" val="51131271"/>
                  </a:ext>
                </a:extLst>
              </a:tr>
            </a:tbl>
          </a:graphicData>
        </a:graphic>
      </p:graphicFrame>
      <p:graphicFrame>
        <p:nvGraphicFramePr>
          <p:cNvPr id="6" name="Table 5">
            <a:extLst>
              <a:ext uri="{FF2B5EF4-FFF2-40B4-BE49-F238E27FC236}">
                <a16:creationId xmlns:a16="http://schemas.microsoft.com/office/drawing/2014/main" id="{15476F54-8912-86D3-5048-7DD93203D063}"/>
              </a:ext>
            </a:extLst>
          </p:cNvPr>
          <p:cNvGraphicFramePr>
            <a:graphicFrameLocks noGrp="1"/>
          </p:cNvGraphicFramePr>
          <p:nvPr>
            <p:extLst>
              <p:ext uri="{D42A27DB-BD31-4B8C-83A1-F6EECF244321}">
                <p14:modId xmlns:p14="http://schemas.microsoft.com/office/powerpoint/2010/main" val="1585713269"/>
              </p:ext>
            </p:extLst>
          </p:nvPr>
        </p:nvGraphicFramePr>
        <p:xfrm>
          <a:off x="667138" y="4200970"/>
          <a:ext cx="10515600" cy="219456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247324891"/>
                    </a:ext>
                  </a:extLst>
                </a:gridCol>
                <a:gridCol w="5257800">
                  <a:extLst>
                    <a:ext uri="{9D8B030D-6E8A-4147-A177-3AD203B41FA5}">
                      <a16:colId xmlns:a16="http://schemas.microsoft.com/office/drawing/2014/main" val="1640249906"/>
                    </a:ext>
                  </a:extLst>
                </a:gridCol>
              </a:tblGrid>
              <a:tr h="0">
                <a:tc>
                  <a:txBody>
                    <a:bodyPr/>
                    <a:lstStyle/>
                    <a:p>
                      <a:pPr>
                        <a:buNone/>
                      </a:pPr>
                      <a:r>
                        <a:rPr lang="en-IN"/>
                        <a:t>Software Component</a:t>
                      </a:r>
                    </a:p>
                  </a:txBody>
                  <a:tcPr anchor="ctr"/>
                </a:tc>
                <a:tc>
                  <a:txBody>
                    <a:bodyPr/>
                    <a:lstStyle/>
                    <a:p>
                      <a:pPr>
                        <a:buNone/>
                      </a:pPr>
                      <a:r>
                        <a:rPr lang="en-IN"/>
                        <a:t>Purpose</a:t>
                      </a:r>
                    </a:p>
                  </a:txBody>
                  <a:tcPr anchor="ctr"/>
                </a:tc>
                <a:extLst>
                  <a:ext uri="{0D108BD9-81ED-4DB2-BD59-A6C34878D82A}">
                    <a16:rowId xmlns:a16="http://schemas.microsoft.com/office/drawing/2014/main" val="3828745907"/>
                  </a:ext>
                </a:extLst>
              </a:tr>
              <a:tr h="0">
                <a:tc>
                  <a:txBody>
                    <a:bodyPr/>
                    <a:lstStyle/>
                    <a:p>
                      <a:pPr>
                        <a:buNone/>
                      </a:pPr>
                      <a:r>
                        <a:rPr lang="en-IN" dirty="0"/>
                        <a:t>Programming Environment</a:t>
                      </a:r>
                    </a:p>
                  </a:txBody>
                  <a:tcPr anchor="ctr"/>
                </a:tc>
                <a:tc>
                  <a:txBody>
                    <a:bodyPr/>
                    <a:lstStyle/>
                    <a:p>
                      <a:pPr>
                        <a:buNone/>
                      </a:pPr>
                      <a:r>
                        <a:rPr lang="en-IN"/>
                        <a:t>Project development</a:t>
                      </a:r>
                    </a:p>
                  </a:txBody>
                  <a:tcPr anchor="ctr"/>
                </a:tc>
                <a:extLst>
                  <a:ext uri="{0D108BD9-81ED-4DB2-BD59-A6C34878D82A}">
                    <a16:rowId xmlns:a16="http://schemas.microsoft.com/office/drawing/2014/main" val="509398534"/>
                  </a:ext>
                </a:extLst>
              </a:tr>
              <a:tr h="0">
                <a:tc>
                  <a:txBody>
                    <a:bodyPr/>
                    <a:lstStyle/>
                    <a:p>
                      <a:pPr>
                        <a:buNone/>
                      </a:pPr>
                      <a:r>
                        <a:rPr lang="en-IN"/>
                        <a:t>Data Processing Tools</a:t>
                      </a:r>
                    </a:p>
                  </a:txBody>
                  <a:tcPr anchor="ctr"/>
                </a:tc>
                <a:tc>
                  <a:txBody>
                    <a:bodyPr/>
                    <a:lstStyle/>
                    <a:p>
                      <a:pPr>
                        <a:buNone/>
                      </a:pPr>
                      <a:r>
                        <a:rPr lang="en-IN"/>
                        <a:t>Data cleaning and processing</a:t>
                      </a:r>
                    </a:p>
                  </a:txBody>
                  <a:tcPr anchor="ctr"/>
                </a:tc>
                <a:extLst>
                  <a:ext uri="{0D108BD9-81ED-4DB2-BD59-A6C34878D82A}">
                    <a16:rowId xmlns:a16="http://schemas.microsoft.com/office/drawing/2014/main" val="3331966519"/>
                  </a:ext>
                </a:extLst>
              </a:tr>
              <a:tr h="0">
                <a:tc>
                  <a:txBody>
                    <a:bodyPr/>
                    <a:lstStyle/>
                    <a:p>
                      <a:pPr>
                        <a:buNone/>
                      </a:pPr>
                      <a:r>
                        <a:rPr lang="en-IN" dirty="0"/>
                        <a:t>NLP Tools</a:t>
                      </a:r>
                    </a:p>
                  </a:txBody>
                  <a:tcPr anchor="ctr"/>
                </a:tc>
                <a:tc>
                  <a:txBody>
                    <a:bodyPr/>
                    <a:lstStyle/>
                    <a:p>
                      <a:pPr>
                        <a:buNone/>
                      </a:pPr>
                      <a:r>
                        <a:rPr lang="en-IN"/>
                        <a:t>Text analysis</a:t>
                      </a:r>
                    </a:p>
                  </a:txBody>
                  <a:tcPr anchor="ctr"/>
                </a:tc>
                <a:extLst>
                  <a:ext uri="{0D108BD9-81ED-4DB2-BD59-A6C34878D82A}">
                    <a16:rowId xmlns:a16="http://schemas.microsoft.com/office/drawing/2014/main" val="836178930"/>
                  </a:ext>
                </a:extLst>
              </a:tr>
              <a:tr h="0">
                <a:tc>
                  <a:txBody>
                    <a:bodyPr/>
                    <a:lstStyle/>
                    <a:p>
                      <a:pPr>
                        <a:buNone/>
                      </a:pPr>
                      <a:r>
                        <a:rPr lang="en-IN" dirty="0"/>
                        <a:t>Sentiment Analysis</a:t>
                      </a:r>
                    </a:p>
                  </a:txBody>
                  <a:tcPr anchor="ctr"/>
                </a:tc>
                <a:tc>
                  <a:txBody>
                    <a:bodyPr/>
                    <a:lstStyle/>
                    <a:p>
                      <a:pPr>
                        <a:buNone/>
                      </a:pPr>
                      <a:r>
                        <a:rPr lang="en-IN" dirty="0"/>
                        <a:t>Positive, Negative, Neutral classification</a:t>
                      </a:r>
                    </a:p>
                  </a:txBody>
                  <a:tcPr anchor="ctr"/>
                </a:tc>
                <a:extLst>
                  <a:ext uri="{0D108BD9-81ED-4DB2-BD59-A6C34878D82A}">
                    <a16:rowId xmlns:a16="http://schemas.microsoft.com/office/drawing/2014/main" val="1574156207"/>
                  </a:ext>
                </a:extLst>
              </a:tr>
              <a:tr h="0">
                <a:tc>
                  <a:txBody>
                    <a:bodyPr/>
                    <a:lstStyle/>
                    <a:p>
                      <a:pPr>
                        <a:buNone/>
                      </a:pPr>
                      <a:r>
                        <a:rPr lang="en-IN" dirty="0"/>
                        <a:t>Visualization Tools</a:t>
                      </a:r>
                    </a:p>
                  </a:txBody>
                  <a:tcPr anchor="ctr"/>
                </a:tc>
                <a:tc>
                  <a:txBody>
                    <a:bodyPr/>
                    <a:lstStyle/>
                    <a:p>
                      <a:pPr>
                        <a:buNone/>
                      </a:pPr>
                      <a:r>
                        <a:rPr lang="en-IN" dirty="0"/>
                        <a:t>Graphs and charts</a:t>
                      </a:r>
                    </a:p>
                  </a:txBody>
                  <a:tcPr anchor="ctr"/>
                </a:tc>
                <a:extLst>
                  <a:ext uri="{0D108BD9-81ED-4DB2-BD59-A6C34878D82A}">
                    <a16:rowId xmlns:a16="http://schemas.microsoft.com/office/drawing/2014/main" val="1877293918"/>
                  </a:ext>
                </a:extLst>
              </a:tr>
            </a:tbl>
          </a:graphicData>
        </a:graphic>
      </p:graphicFrame>
      <p:sp>
        <p:nvSpPr>
          <p:cNvPr id="10" name="TextBox 9">
            <a:extLst>
              <a:ext uri="{FF2B5EF4-FFF2-40B4-BE49-F238E27FC236}">
                <a16:creationId xmlns:a16="http://schemas.microsoft.com/office/drawing/2014/main" id="{5DBA347D-C2C5-9BEF-F820-8D50024FF8A6}"/>
              </a:ext>
            </a:extLst>
          </p:cNvPr>
          <p:cNvSpPr txBox="1"/>
          <p:nvPr/>
        </p:nvSpPr>
        <p:spPr>
          <a:xfrm>
            <a:off x="605595" y="1087617"/>
            <a:ext cx="6097554" cy="369332"/>
          </a:xfrm>
          <a:prstGeom prst="rect">
            <a:avLst/>
          </a:prstGeom>
          <a:noFill/>
        </p:spPr>
        <p:txBody>
          <a:bodyPr wrap="square">
            <a:spAutoFit/>
          </a:bodyPr>
          <a:lstStyle/>
          <a:p>
            <a:r>
              <a:rPr lang="en-IN" dirty="0">
                <a:latin typeface="Arial Black" panose="020B0A04020102020204" pitchFamily="34" charset="0"/>
              </a:rPr>
              <a:t>Hardware Requirements</a:t>
            </a:r>
          </a:p>
        </p:txBody>
      </p:sp>
      <p:sp>
        <p:nvSpPr>
          <p:cNvPr id="12" name="TextBox 11">
            <a:extLst>
              <a:ext uri="{FF2B5EF4-FFF2-40B4-BE49-F238E27FC236}">
                <a16:creationId xmlns:a16="http://schemas.microsoft.com/office/drawing/2014/main" id="{00CA8AF8-79CB-8CD0-9466-09A9D24BD071}"/>
              </a:ext>
            </a:extLst>
          </p:cNvPr>
          <p:cNvSpPr txBox="1"/>
          <p:nvPr/>
        </p:nvSpPr>
        <p:spPr>
          <a:xfrm>
            <a:off x="605595" y="3831638"/>
            <a:ext cx="6097554" cy="369332"/>
          </a:xfrm>
          <a:prstGeom prst="rect">
            <a:avLst/>
          </a:prstGeom>
          <a:noFill/>
        </p:spPr>
        <p:txBody>
          <a:bodyPr wrap="square">
            <a:spAutoFit/>
          </a:bodyPr>
          <a:lstStyle/>
          <a:p>
            <a:r>
              <a:rPr lang="en-IN" dirty="0">
                <a:latin typeface="Arial Black" panose="020B0A04020102020204" pitchFamily="34" charset="0"/>
              </a:rPr>
              <a:t>Software Components</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502EA57D-704B-D3F9-118E-2F06945F60E8}"/>
              </a:ext>
            </a:extLst>
          </p:cNvPr>
          <p:cNvSpPr txBox="1"/>
          <p:nvPr/>
        </p:nvSpPr>
        <p:spPr>
          <a:xfrm>
            <a:off x="531845" y="2413338"/>
            <a:ext cx="11112759" cy="2308324"/>
          </a:xfrm>
          <a:prstGeom prst="rect">
            <a:avLst/>
          </a:prstGeom>
          <a:noFill/>
        </p:spPr>
        <p:txBody>
          <a:bodyPr wrap="square">
            <a:spAutoFit/>
          </a:bodyPr>
          <a:lstStyle/>
          <a:p>
            <a:pPr algn="just"/>
            <a:r>
              <a:rPr lang="en-IN" sz="2400" dirty="0">
                <a:latin typeface="Arial" panose="020B0604020202020204" pitchFamily="34" charset="0"/>
                <a:cs typeface="Arial" panose="020B0604020202020204" pitchFamily="34" charset="0"/>
              </a:rPr>
              <a:t>The News &amp; Social Media Analytics Engine provides an automated way to </a:t>
            </a:r>
            <a:r>
              <a:rPr lang="en-IN" sz="2400" dirty="0" err="1">
                <a:latin typeface="Arial" panose="020B0604020202020204" pitchFamily="34" charset="0"/>
                <a:cs typeface="Arial" panose="020B0604020202020204" pitchFamily="34" charset="0"/>
              </a:rPr>
              <a:t>analyze</a:t>
            </a:r>
            <a:r>
              <a:rPr lang="en-IN" sz="2400" dirty="0">
                <a:latin typeface="Arial" panose="020B0604020202020204" pitchFamily="34" charset="0"/>
                <a:cs typeface="Arial" panose="020B0604020202020204" pitchFamily="34" charset="0"/>
              </a:rPr>
              <a:t> large volumes of online content. By using data mining and Natural Language Processing techniques, the system can process textual information, identify sentiment, extract keywords, and detect trending topics. The visualization of the results makes the </a:t>
            </a:r>
            <a:r>
              <a:rPr lang="en-IN" sz="2400" dirty="0" err="1">
                <a:latin typeface="Arial" panose="020B0604020202020204" pitchFamily="34" charset="0"/>
                <a:cs typeface="Arial" panose="020B0604020202020204" pitchFamily="34" charset="0"/>
              </a:rPr>
              <a:t>analyzed</a:t>
            </a:r>
            <a:r>
              <a:rPr lang="en-IN" sz="2400" dirty="0">
                <a:latin typeface="Arial" panose="020B0604020202020204" pitchFamily="34" charset="0"/>
                <a:cs typeface="Arial" panose="020B0604020202020204" pitchFamily="34" charset="0"/>
              </a:rPr>
              <a:t> information simple and understandable for users.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BC1AB5EE-321A-6994-3700-E2DE698D68C3}"/>
              </a:ext>
            </a:extLst>
          </p:cNvPr>
          <p:cNvSpPr txBox="1"/>
          <p:nvPr/>
        </p:nvSpPr>
        <p:spPr>
          <a:xfrm>
            <a:off x="233265" y="2413338"/>
            <a:ext cx="11588621" cy="1938992"/>
          </a:xfrm>
          <a:prstGeom prst="rect">
            <a:avLst/>
          </a:prstGeom>
          <a:noFill/>
        </p:spPr>
        <p:txBody>
          <a:bodyPr wrap="square">
            <a:spAutoFit/>
          </a:bodyPr>
          <a:lstStyle/>
          <a:p>
            <a:pPr algn="just"/>
            <a:r>
              <a:rPr lang="en-IN" sz="2400" dirty="0">
                <a:latin typeface="Arial" panose="020B0604020202020204" pitchFamily="34" charset="0"/>
                <a:cs typeface="Arial" panose="020B0604020202020204" pitchFamily="34" charset="0"/>
              </a:rPr>
              <a:t>In the future, the system can be enhanced by supporting more news and social media sources and by providing real-time analysis. It can also be extended to support multiple languages and more advanced machine-learning techniques. More detailed dashboards, historical trend analysis, and prediction features can be added to make the system more powerful and useful.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723</Words>
  <Application>Microsoft Office PowerPoint</Application>
  <PresentationFormat>Widescreen</PresentationFormat>
  <Paragraphs>58</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Algerian</vt:lpstr>
      <vt:lpstr>Arial</vt:lpstr>
      <vt:lpstr>Arial Black</vt:lpstr>
      <vt:lpstr>Arial Rounded MT Bold</vt:lpstr>
      <vt:lpstr>Calibri</vt:lpstr>
      <vt:lpstr>Times New Roman</vt:lpstr>
      <vt:lpstr>Office Theme</vt:lpstr>
      <vt:lpstr>                                                                                    Data Structures and Algorithms -3 (25CS2103E)  News &amp; Social Media Analytics Engine  Submitted by  K.Mrudula (2520090073)  B.Navya (2520090189)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Kolli Mrudula</cp:lastModifiedBy>
  <cp:revision>22</cp:revision>
  <dcterms:created xsi:type="dcterms:W3CDTF">2024-08-29T05:25:00Z</dcterms:created>
  <dcterms:modified xsi:type="dcterms:W3CDTF">2026-09-10T05:40:57Z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